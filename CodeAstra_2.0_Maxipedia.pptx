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6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515"/>
          </a:solidFill>
        </p:spPr>
        <p:txBody>
          <a:bodyPr/>
          <a:lstStyle/>
          <a:p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29"/>
            <a:ext cx="18288000" cy="1028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0"/>
            <a:ext cx="9867900" cy="499618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550" y="152400"/>
            <a:ext cx="1170939" cy="129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06577" y="5142271"/>
            <a:ext cx="3830320" cy="2231390"/>
          </a:xfrm>
          <a:prstGeom prst="rect">
            <a:avLst/>
          </a:prstGeom>
        </p:spPr>
        <p:txBody>
          <a:bodyPr wrap="none" lIns="0" tIns="0" rIns="0" bIns="0" rtlCol="0" anchor="ctr" anchorCtr="0"/>
          <a:lstStyle/>
          <a:p>
            <a:pPr marL="0" marR="0" indent="0" algn="l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350" spc="3" baseline="0" dirty="0">
                <a:solidFill>
                  <a:srgbClr val="FFFFFF"/>
                </a:solidFill>
                <a:latin typeface="Times New Roman"/>
              </a:rPr>
              <a:t>Team Name : Maxipedia</a:t>
            </a:r>
            <a:endParaRPr lang="en-US" sz="1100" dirty="0"/>
          </a:p>
          <a:p>
            <a:pPr marL="0" marR="0" indent="0" algn="l" hangingPunct="0">
              <a:lnSpc>
                <a:spcPts val="3400"/>
              </a:lnSpc>
              <a:spcBef>
                <a:spcPts val="1319"/>
              </a:spcBef>
              <a:spcAft>
                <a:spcPct val="0"/>
              </a:spcAft>
            </a:pPr>
            <a:r>
              <a:rPr lang="en-US" sz="3350" spc="23" baseline="0" dirty="0">
                <a:solidFill>
                  <a:srgbClr val="FFFFFF"/>
                </a:solidFill>
                <a:latin typeface="Times New Roman"/>
              </a:rPr>
              <a:t>Leader Name : Tejas Rana</a:t>
            </a:r>
          </a:p>
          <a:p>
            <a:pPr marL="0" marR="0" indent="0" algn="l" hangingPunct="0">
              <a:lnSpc>
                <a:spcPts val="3400"/>
              </a:lnSpc>
              <a:spcBef>
                <a:spcPts val="1330"/>
              </a:spcBef>
              <a:spcAft>
                <a:spcPct val="0"/>
              </a:spcAft>
            </a:pPr>
            <a:r>
              <a:rPr lang="en-US" sz="3350" spc="24" baseline="0" dirty="0">
                <a:solidFill>
                  <a:srgbClr val="FFFFFF"/>
                </a:solidFill>
                <a:latin typeface="Times New Roman"/>
              </a:rPr>
              <a:t>Domain Chosen : AI/ML</a:t>
            </a:r>
          </a:p>
          <a:p>
            <a:pPr hangingPunct="0">
              <a:lnSpc>
                <a:spcPts val="3400"/>
              </a:lnSpc>
              <a:spcBef>
                <a:spcPts val="1319"/>
              </a:spcBef>
              <a:spcAft>
                <a:spcPct val="0"/>
              </a:spcAft>
            </a:pPr>
            <a:r>
              <a:rPr lang="en-US" sz="3350" spc="9" baseline="0" dirty="0">
                <a:solidFill>
                  <a:srgbClr val="FFFFFF"/>
                </a:solidFill>
                <a:latin typeface="Times New Roman"/>
              </a:rPr>
              <a:t>Problem Statement : </a:t>
            </a:r>
            <a:r>
              <a:rPr lang="en-US" sz="3350" b="1" spc="9" baseline="0" dirty="0">
                <a:solidFill>
                  <a:srgbClr val="FFFFFF"/>
                </a:solidFill>
                <a:latin typeface="Times New Roman"/>
              </a:rPr>
              <a:t>Multimodal Synthetic-Media Forensics &amp; Provenance Reasoning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51700" y="3067050"/>
            <a:ext cx="2894330" cy="514350"/>
          </a:xfrm>
          <a:prstGeom prst="rect">
            <a:avLst/>
          </a:prstGeom>
        </p:spPr>
        <p:txBody>
          <a:bodyPr wrap="none" lIns="0" tIns="0" rIns="0" bIns="0" rtlCol="0" anchor="ctr" anchorCtr="0"/>
          <a:lstStyle/>
          <a:p>
            <a:pPr marL="0" marR="0" indent="0" algn="l" hangingPunct="0">
              <a:lnSpc>
                <a:spcPts val="405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4050" spc="-24" baseline="0">
                <a:solidFill>
                  <a:srgbClr val="FFFFFF"/>
                </a:solidFill>
                <a:latin typeface="Times New Roman"/>
              </a:rPr>
              <a:t>Team Details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515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550" y="152400"/>
            <a:ext cx="1170939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28700" y="1846580"/>
            <a:ext cx="3302000" cy="431800"/>
          </a:xfrm>
          <a:prstGeom prst="rect">
            <a:avLst/>
          </a:prstGeom>
        </p:spPr>
        <p:txBody>
          <a:bodyPr wrap="none" lIns="0" tIns="0" rIns="0" bIns="0" rtlCol="0" anchor="ctr" anchorCtr="0"/>
          <a:lstStyle/>
          <a:p>
            <a:pPr marL="0" marR="0" indent="0" algn="l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350" spc="0" baseline="0" dirty="0">
                <a:solidFill>
                  <a:srgbClr val="FFFFFF"/>
                </a:solidFill>
                <a:latin typeface="Times New Roman"/>
              </a:rPr>
              <a:t>Problem Analysis </a:t>
            </a:r>
            <a:endParaRPr lang="en-US" sz="1100" dirty="0"/>
          </a:p>
        </p:txBody>
      </p:sp>
      <p:sp>
        <p:nvSpPr>
          <p:cNvPr id="8" name="Rounded Rectangle 7"/>
          <p:cNvSpPr/>
          <p:nvPr/>
        </p:nvSpPr>
        <p:spPr>
          <a:xfrm>
            <a:off x="1028700" y="2514600"/>
            <a:ext cx="7955280" cy="237744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FF9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03020" y="2633472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93BC"/>
                </a:solidFill>
                <a:latin typeface="Times New Roman"/>
              </a:rPr>
              <a:t>Typical detector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03020" y="3291840"/>
            <a:ext cx="2167128" cy="86868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C9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 dirty="0">
                <a:solidFill>
                  <a:srgbClr val="F4F7FF"/>
                </a:solidFill>
                <a:latin typeface="Times New Roman"/>
              </a:rPr>
              <a:t>Media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27348" y="3291840"/>
            <a:ext cx="2167128" cy="86868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C9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Single classifier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1676" y="3291840"/>
            <a:ext cx="2167128" cy="86868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25400">
            <a:solidFill>
              <a:srgbClr val="FF9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“Fake, 92%”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06724" y="3726180"/>
            <a:ext cx="384048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31052" y="3726180"/>
            <a:ext cx="384048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03020" y="4390679"/>
            <a:ext cx="7406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 dirty="0">
                <a:solidFill>
                  <a:srgbClr val="FF93BC"/>
                </a:solidFill>
                <a:latin typeface="Times New Roman"/>
              </a:rPr>
              <a:t>No evidence · no location in the media · no origin trail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2580" y="2514600"/>
            <a:ext cx="8046720" cy="237744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86900" y="2633472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6FD3FF"/>
                </a:solidFill>
                <a:latin typeface="Times New Roman"/>
              </a:rPr>
              <a:t>An investigator must know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6900" y="3246120"/>
            <a:ext cx="75895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Font typeface="Arial"/>
              <a:buChar char="•"/>
            </a:pPr>
            <a:r>
              <a:rPr sz="2000" b="0" dirty="0">
                <a:solidFill>
                  <a:srgbClr val="F4F7FF"/>
                </a:solidFill>
                <a:latin typeface="Times New Roman"/>
              </a:rPr>
              <a:t>What evidence suggests manipulation?</a:t>
            </a:r>
          </a:p>
          <a:p>
            <a:pPr marL="256032" indent="-256032" algn="l">
              <a:spcAft>
                <a:spcPts val="400"/>
              </a:spcAft>
              <a:buFont typeface="Arial"/>
              <a:buChar char="•"/>
            </a:pPr>
            <a:r>
              <a:rPr sz="2000" b="0" dirty="0">
                <a:solidFill>
                  <a:srgbClr val="F4F7FF"/>
                </a:solidFill>
                <a:latin typeface="Times New Roman"/>
              </a:rPr>
              <a:t>Where do the inconsistencies occur?</a:t>
            </a:r>
          </a:p>
          <a:p>
            <a:pPr marL="256032" indent="-256032" algn="l">
              <a:spcAft>
                <a:spcPts val="400"/>
              </a:spcAft>
              <a:buFont typeface="Arial"/>
              <a:buChar char="•"/>
            </a:pPr>
            <a:r>
              <a:rPr sz="2000" b="0" dirty="0">
                <a:solidFill>
                  <a:srgbClr val="F4F7FF"/>
                </a:solidFill>
                <a:latin typeface="Times New Roman"/>
              </a:rPr>
              <a:t>How was the media processed?</a:t>
            </a:r>
          </a:p>
          <a:p>
            <a:pPr marL="256032" indent="-256032" algn="l">
              <a:spcAft>
                <a:spcPts val="400"/>
              </a:spcAft>
              <a:buFont typeface="Arial"/>
              <a:buChar char="•"/>
            </a:pPr>
            <a:r>
              <a:rPr sz="2000" b="0" dirty="0">
                <a:solidFill>
                  <a:srgbClr val="F4F7FF"/>
                </a:solidFill>
                <a:latin typeface="Times New Roman"/>
              </a:rPr>
              <a:t>Can its claimed origin be trusted?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" y="5120640"/>
            <a:ext cx="16230600" cy="224028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03020" y="5239512"/>
            <a:ext cx="15681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B9A3FF"/>
                </a:solidFill>
                <a:latin typeface="Times New Roman"/>
              </a:rPr>
              <a:t>Partial manipulation that a binary label cannot describe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03020" y="5852160"/>
            <a:ext cx="3749040" cy="12801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00" b="1" dirty="0">
                <a:solidFill>
                  <a:srgbClr val="F4F7FF"/>
                </a:solidFill>
                <a:latin typeface="Times New Roman"/>
              </a:rPr>
              <a:t>Voice swap</a:t>
            </a:r>
          </a:p>
          <a:p>
            <a:pPr algn="ctr">
              <a:spcBef>
                <a:spcPts val="200"/>
              </a:spcBef>
            </a:pPr>
            <a:r>
              <a:rPr sz="2000" b="0" dirty="0">
                <a:solidFill>
                  <a:srgbClr val="C9D1EC"/>
                </a:solidFill>
                <a:latin typeface="Times New Roman"/>
              </a:rPr>
              <a:t>Genuine footage carrying a synthetic voice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80660" y="5852160"/>
            <a:ext cx="3749040" cy="12801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00" b="1" dirty="0">
                <a:solidFill>
                  <a:srgbClr val="F4F7FF"/>
                </a:solidFill>
                <a:latin typeface="Times New Roman"/>
              </a:rPr>
              <a:t>Region replaced</a:t>
            </a:r>
          </a:p>
          <a:p>
            <a:pPr algn="ctr">
              <a:spcBef>
                <a:spcPts val="200"/>
              </a:spcBef>
            </a:pPr>
            <a:r>
              <a:rPr sz="2000" b="0" dirty="0">
                <a:solidFill>
                  <a:srgbClr val="C9D1EC"/>
                </a:solidFill>
                <a:latin typeface="Times New Roman"/>
              </a:rPr>
              <a:t>Edited or blended face / object region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8300" y="5852160"/>
            <a:ext cx="3749040" cy="12801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00" b="1" dirty="0">
                <a:solidFill>
                  <a:srgbClr val="F4F7FF"/>
                </a:solidFill>
                <a:latin typeface="Times New Roman"/>
              </a:rPr>
              <a:t>Timestamps altered</a:t>
            </a:r>
          </a:p>
          <a:p>
            <a:pPr algn="ctr">
              <a:spcBef>
                <a:spcPts val="200"/>
              </a:spcBef>
            </a:pPr>
            <a:r>
              <a:rPr sz="2000" b="0" dirty="0">
                <a:solidFill>
                  <a:srgbClr val="C9D1EC"/>
                </a:solidFill>
                <a:latin typeface="Times New Roman"/>
              </a:rPr>
              <a:t>Creation and modification times conflict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35940" y="5852160"/>
            <a:ext cx="3749040" cy="12801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00" b="1" dirty="0">
                <a:solidFill>
                  <a:srgbClr val="F4F7FF"/>
                </a:solidFill>
                <a:latin typeface="Times New Roman"/>
              </a:rPr>
              <a:t>Re-encoded copies</a:t>
            </a:r>
          </a:p>
          <a:p>
            <a:pPr algn="ctr">
              <a:spcBef>
                <a:spcPts val="200"/>
              </a:spcBef>
            </a:pPr>
            <a:r>
              <a:rPr sz="2000" b="0" dirty="0">
                <a:solidFill>
                  <a:srgbClr val="C9D1EC"/>
                </a:solidFill>
                <a:latin typeface="Times New Roman"/>
              </a:rPr>
              <a:t>Several generations of compression and editing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8700" y="7589520"/>
            <a:ext cx="5257800" cy="219456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FFC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03020" y="7708392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CB6B"/>
                </a:solidFill>
                <a:latin typeface="Times New Roman"/>
              </a:rPr>
              <a:t>Core challenge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3020" y="8321040"/>
            <a:ext cx="4709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F4F7FF"/>
                </a:solidFill>
                <a:latin typeface="Times New Roman"/>
              </a:rPr>
              <a:t>Treat media as a web of interconnected evidence — visual, audio, metadata and provenance — instead of a binary classification.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5100" y="7589520"/>
            <a:ext cx="5257800" cy="219456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FF9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89420" y="7708392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93BC"/>
                </a:solidFill>
                <a:latin typeface="Times New Roman"/>
              </a:rPr>
              <a:t>Hard constraint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9420" y="8321040"/>
            <a:ext cx="4709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F4F7FF"/>
                </a:solidFill>
                <a:latin typeface="Times New Roman"/>
              </a:rPr>
              <a:t>No reliance on an external deepfake API or fake-or-real classifier as the decision-maker; pretrained models may only be one evidence source.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01500" y="7589520"/>
            <a:ext cx="5257800" cy="219456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275820" y="7708392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6EE7B7"/>
                </a:solidFill>
                <a:latin typeface="Times New Roman"/>
              </a:rPr>
              <a:t>24-hour prototype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75820" y="8321040"/>
            <a:ext cx="4709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F4F7FF"/>
                </a:solidFill>
                <a:latin typeface="Times New Roman"/>
              </a:rPr>
              <a:t>Working vertical slice: ingestion → forensic analysis → evidence correlation → timeline → provenance → investigator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515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550" y="152400"/>
            <a:ext cx="1170939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28700" y="1809750"/>
            <a:ext cx="6470650" cy="431800"/>
          </a:xfrm>
          <a:prstGeom prst="rect">
            <a:avLst/>
          </a:prstGeom>
        </p:spPr>
        <p:txBody>
          <a:bodyPr wrap="none" lIns="0" tIns="0" rIns="0" bIns="0" rtlCol="0" anchor="ctr" anchorCtr="0"/>
          <a:lstStyle/>
          <a:p>
            <a:pPr marL="0" marR="0" indent="0" algn="l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350" spc="7" baseline="0" dirty="0">
                <a:solidFill>
                  <a:srgbClr val="FFFFFF"/>
                </a:solidFill>
                <a:latin typeface="Times New Roman"/>
              </a:rPr>
              <a:t>Proposed Solution &amp; Key Features </a:t>
            </a:r>
            <a:endParaRPr lang="en-US" sz="1100" dirty="0"/>
          </a:p>
        </p:txBody>
      </p:sp>
      <p:sp>
        <p:nvSpPr>
          <p:cNvPr id="8" name="Rounded Rectangle 7"/>
          <p:cNvSpPr/>
          <p:nvPr/>
        </p:nvSpPr>
        <p:spPr>
          <a:xfrm>
            <a:off x="1028700" y="2514600"/>
            <a:ext cx="16230600" cy="338328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03020" y="2633472"/>
            <a:ext cx="15681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6FD3FF"/>
                </a:solidFill>
                <a:latin typeface="Times New Roman"/>
              </a:rPr>
              <a:t>Evidence pipeline: independent checks feed one fusion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03020" y="3520440"/>
            <a:ext cx="2651760" cy="17373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00" b="1" dirty="0">
                <a:solidFill>
                  <a:srgbClr val="F4F7FF"/>
                </a:solidFill>
                <a:latin typeface="Times New Roman"/>
              </a:rPr>
              <a:t>Media ingestion</a:t>
            </a:r>
          </a:p>
          <a:p>
            <a:pPr algn="ctr">
              <a:spcBef>
                <a:spcPts val="200"/>
              </a:spcBef>
            </a:pPr>
            <a:r>
              <a:rPr sz="2000" b="0" dirty="0">
                <a:solidFill>
                  <a:srgbClr val="C9D1EC"/>
                </a:solidFill>
                <a:latin typeface="Times New Roman"/>
              </a:rPr>
              <a:t>SHA-256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363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C9D1EC"/>
                </a:solidFill>
                <a:latin typeface="Times New Roman"/>
              </a:rPr>
              <a:t>5 parallel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42900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dirty="0">
                <a:solidFill>
                  <a:srgbClr val="F4F7FF"/>
                </a:solidFill>
                <a:latin typeface="Times New Roman"/>
              </a:rPr>
              <a:t>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88620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dirty="0">
                <a:solidFill>
                  <a:srgbClr val="F4F7FF"/>
                </a:solidFill>
                <a:latin typeface="Times New Roman"/>
              </a:rPr>
              <a:t>Audio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34340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dirty="0">
                <a:solidFill>
                  <a:srgbClr val="F4F7FF"/>
                </a:solidFill>
                <a:latin typeface="Times New Roman"/>
              </a:rPr>
              <a:t>Audio-video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80060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FFC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dirty="0">
                <a:solidFill>
                  <a:srgbClr val="F4F7FF"/>
                </a:solidFill>
                <a:latin typeface="Times New Roman"/>
              </a:rPr>
              <a:t>Metadata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25780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FF9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dirty="0">
                <a:solidFill>
                  <a:srgbClr val="F4F7FF"/>
                </a:solidFill>
                <a:latin typeface="Times New Roman"/>
              </a:rPr>
              <a:t>Provenance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0980" y="3520440"/>
            <a:ext cx="2651760" cy="17373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00" b="1" dirty="0">
                <a:solidFill>
                  <a:srgbClr val="F4F7FF"/>
                </a:solidFill>
                <a:latin typeface="Times New Roman"/>
              </a:rPr>
              <a:t>Findings store</a:t>
            </a:r>
          </a:p>
          <a:p>
            <a:pPr algn="ctr">
              <a:spcBef>
                <a:spcPts val="200"/>
              </a:spcBef>
            </a:pPr>
            <a:r>
              <a:rPr sz="2000" b="0" dirty="0">
                <a:solidFill>
                  <a:srgbClr val="C9D1EC"/>
                </a:solidFill>
                <a:latin typeface="Times New Roman"/>
              </a:rPr>
              <a:t>one finding schema for every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09960" y="3520440"/>
            <a:ext cx="2651760" cy="17373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3810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00" b="1" dirty="0">
                <a:solidFill>
                  <a:srgbClr val="F4F7FF"/>
                </a:solidFill>
                <a:latin typeface="Times New Roman"/>
              </a:rPr>
              <a:t>Evidence fusion</a:t>
            </a:r>
          </a:p>
          <a:p>
            <a:pPr algn="ctr">
              <a:spcBef>
                <a:spcPts val="200"/>
              </a:spcBef>
            </a:pPr>
            <a:r>
              <a:rPr sz="2000" b="0" dirty="0">
                <a:solidFill>
                  <a:srgbClr val="C9D1EC"/>
                </a:solidFill>
                <a:latin typeface="Times New Roman"/>
              </a:rPr>
              <a:t>group · weigh · supports vs contradicts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378940" y="3520440"/>
            <a:ext cx="2651760" cy="173736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300"/>
              </a:spcAft>
            </a:pPr>
            <a:r>
              <a:rPr sz="2000" b="1" dirty="0">
                <a:solidFill>
                  <a:srgbClr val="F4F7FF"/>
                </a:solidFill>
                <a:latin typeface="Times New Roman"/>
              </a:rPr>
              <a:t>Final assessment</a:t>
            </a:r>
          </a:p>
          <a:p>
            <a:pPr algn="ctr"/>
            <a:r>
              <a:rPr sz="2000" b="0" dirty="0">
                <a:solidFill>
                  <a:srgbClr val="FF93BC"/>
                </a:solidFill>
                <a:latin typeface="Times New Roman"/>
              </a:rPr>
              <a:t>Likely manipulated</a:t>
            </a:r>
          </a:p>
          <a:p>
            <a:pPr algn="ctr"/>
            <a:r>
              <a:rPr sz="2000" b="0" dirty="0">
                <a:solidFill>
                  <a:srgbClr val="6EE7B7"/>
                </a:solidFill>
                <a:latin typeface="Times New Roman"/>
              </a:rPr>
              <a:t>Likely authentic</a:t>
            </a:r>
          </a:p>
          <a:p>
            <a:pPr algn="ctr"/>
            <a:r>
              <a:rPr sz="2000" b="0" dirty="0">
                <a:solidFill>
                  <a:srgbClr val="FFCB6B"/>
                </a:solidFill>
                <a:latin typeface="Times New Roman"/>
              </a:rPr>
              <a:t>Inconclusive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91356" y="4389120"/>
            <a:ext cx="544068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60336" y="4389120"/>
            <a:ext cx="544068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29316" y="4389120"/>
            <a:ext cx="544068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798296" y="4389120"/>
            <a:ext cx="544068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28700" y="6126480"/>
            <a:ext cx="7589520" cy="365760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03020" y="6281368"/>
            <a:ext cx="70408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6EE7B7"/>
                </a:solidFill>
                <a:latin typeface="Times New Roman"/>
              </a:rPr>
              <a:t>Key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020" y="6727293"/>
            <a:ext cx="7315200" cy="2769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2000" b="1" dirty="0">
                <a:solidFill>
                  <a:srgbClr val="6EE7B7"/>
                </a:solidFill>
                <a:latin typeface="Times New Roman"/>
              </a:rPr>
              <a:t>Evidence, not a label: </a:t>
            </a:r>
            <a:r>
              <a:rPr sz="2000" b="0" dirty="0">
                <a:solidFill>
                  <a:srgbClr val="F4F7FF"/>
                </a:solidFill>
                <a:latin typeface="Times New Roman"/>
              </a:rPr>
              <a:t>one finding per check, tied to a frame, region or time range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2000" b="1" dirty="0">
                <a:solidFill>
                  <a:srgbClr val="6EE7B7"/>
                </a:solidFill>
                <a:latin typeface="Times New Roman"/>
              </a:rPr>
              <a:t>Five independent layers: </a:t>
            </a:r>
            <a:r>
              <a:rPr sz="2000" b="0" dirty="0">
                <a:solidFill>
                  <a:srgbClr val="F4F7FF"/>
                </a:solidFill>
                <a:latin typeface="Times New Roman"/>
              </a:rPr>
              <a:t>visual, audio, A/V sync, metadata, provenance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2000" b="1" dirty="0">
                <a:solidFill>
                  <a:srgbClr val="6EE7B7"/>
                </a:solidFill>
                <a:latin typeface="Times New Roman"/>
              </a:rPr>
              <a:t>Uncertainty-aware fusion </a:t>
            </a:r>
            <a:r>
              <a:rPr sz="2000" b="0" dirty="0">
                <a:solidFill>
                  <a:srgbClr val="F4F7FF"/>
                </a:solidFill>
                <a:latin typeface="Times New Roman"/>
              </a:rPr>
              <a:t>that can answer “inconclusive”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2000" b="1" dirty="0">
                <a:solidFill>
                  <a:srgbClr val="6EE7B7"/>
                </a:solidFill>
                <a:latin typeface="Times New Roman"/>
              </a:rPr>
              <a:t>Counterfactual toggle: </a:t>
            </a:r>
            <a:r>
              <a:rPr sz="2000" b="0" dirty="0">
                <a:solidFill>
                  <a:srgbClr val="F4F7FF"/>
                </a:solidFill>
                <a:latin typeface="Times New Roman"/>
              </a:rPr>
              <a:t>remove evidence, watch the verdict change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2000" b="1" dirty="0">
                <a:solidFill>
                  <a:srgbClr val="6EE7B7"/>
                </a:solidFill>
                <a:latin typeface="Times New Roman"/>
              </a:rPr>
              <a:t>Adaptive analysis: </a:t>
            </a:r>
            <a:r>
              <a:rPr sz="2000" b="0" dirty="0">
                <a:solidFill>
                  <a:srgbClr val="F4F7FF"/>
                </a:solidFill>
                <a:latin typeface="Times New Roman"/>
              </a:rPr>
              <a:t>cheap screening, deep checks only where flagged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46820" y="6126480"/>
            <a:ext cx="8412480" cy="365760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21140" y="6281368"/>
            <a:ext cx="78638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B9A3FF"/>
                </a:solidFill>
                <a:latin typeface="Times New Roman"/>
              </a:rPr>
              <a:t>One schema, one finding per piece of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1140" y="6903720"/>
            <a:ext cx="1600200" cy="475488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dirty="0">
                <a:solidFill>
                  <a:srgbClr val="6FD3FF"/>
                </a:solidFill>
                <a:latin typeface="Times New Roman"/>
              </a:rPr>
              <a:t>Visual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8500" y="6987575"/>
            <a:ext cx="6126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F4F7FF"/>
                </a:solidFill>
                <a:latin typeface="Times New Roman"/>
              </a:rPr>
              <a:t>Face region shows blending artifacts in frames 120–145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21140" y="7470648"/>
            <a:ext cx="1600200" cy="475488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dirty="0">
                <a:solidFill>
                  <a:srgbClr val="B9A3FF"/>
                </a:solidFill>
                <a:latin typeface="Times New Roman"/>
              </a:rPr>
              <a:t>Audio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0" y="7554503"/>
            <a:ext cx="6126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F4F7FF"/>
                </a:solidFill>
                <a:latin typeface="Times New Roman"/>
              </a:rPr>
              <a:t>Synthetic-speech indicators </a:t>
            </a:r>
            <a:r>
              <a:rPr lang="en-US" sz="2000" b="0" dirty="0">
                <a:solidFill>
                  <a:srgbClr val="F4F7FF"/>
                </a:solidFill>
                <a:latin typeface="Times New Roman"/>
              </a:rPr>
              <a:t>(e.g.=</a:t>
            </a:r>
            <a:r>
              <a:rPr sz="2000" b="0" dirty="0">
                <a:solidFill>
                  <a:srgbClr val="F4F7FF"/>
                </a:solidFill>
                <a:latin typeface="Times New Roman"/>
              </a:rPr>
              <a:t>between 00:08 and 00:12</a:t>
            </a:r>
            <a:r>
              <a:rPr lang="en-US" sz="2000" b="0" dirty="0">
                <a:solidFill>
                  <a:srgbClr val="F4F7FF"/>
                </a:solidFill>
                <a:latin typeface="Times New Roman"/>
              </a:rPr>
              <a:t>)</a:t>
            </a:r>
            <a:endParaRPr sz="2000" b="0" dirty="0">
              <a:solidFill>
                <a:srgbClr val="F4F7FF"/>
              </a:solidFill>
              <a:latin typeface="Times New Roman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121140" y="8037576"/>
            <a:ext cx="1600200" cy="475488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dirty="0">
                <a:solidFill>
                  <a:srgbClr val="6EE7B7"/>
                </a:solidFill>
                <a:latin typeface="Times New Roman"/>
              </a:rPr>
              <a:t>Sync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8121431"/>
            <a:ext cx="6126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F4F7FF"/>
                </a:solidFill>
                <a:latin typeface="Times New Roman"/>
              </a:rPr>
              <a:t>Lip movement and audio inconsistent in an interval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21140" y="8604504"/>
            <a:ext cx="1600200" cy="475488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FFC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dirty="0">
                <a:solidFill>
                  <a:srgbClr val="FFCB6B"/>
                </a:solidFill>
                <a:latin typeface="Times New Roman"/>
              </a:rPr>
              <a:t>Metadata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58500" y="8688359"/>
            <a:ext cx="6126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F4F7FF"/>
                </a:solidFill>
                <a:latin typeface="Times New Roman"/>
              </a:rPr>
              <a:t>Encoder tags consistent with a later re-export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21140" y="9171432"/>
            <a:ext cx="1600200" cy="475488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FF9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dirty="0">
                <a:solidFill>
                  <a:srgbClr val="FF93BC"/>
                </a:solidFill>
                <a:latin typeface="Times New Roman"/>
              </a:rPr>
              <a:t>Provenance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4906" y="9255287"/>
            <a:ext cx="6126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F4F7FF"/>
                </a:solidFill>
                <a:latin typeface="Times New Roman"/>
              </a:rPr>
              <a:t>SHA-256 match / mismatch, changed Merkle segments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515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550" y="152400"/>
            <a:ext cx="1170939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32510" y="1755140"/>
            <a:ext cx="6120130" cy="431800"/>
          </a:xfrm>
          <a:prstGeom prst="rect">
            <a:avLst/>
          </a:prstGeom>
        </p:spPr>
        <p:txBody>
          <a:bodyPr wrap="none" lIns="0" tIns="0" rIns="0" bIns="0" rtlCol="0" anchor="ctr" anchorCtr="0"/>
          <a:lstStyle/>
          <a:p>
            <a:pPr marL="0" marR="0" indent="0" algn="l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350" spc="-4" baseline="0" dirty="0">
                <a:solidFill>
                  <a:srgbClr val="FFFFFF"/>
                </a:solidFill>
                <a:latin typeface="Times New Roman"/>
              </a:rPr>
              <a:t>Technical approach &amp; Innovation</a:t>
            </a:r>
            <a:endParaRPr lang="en-US" sz="1100" dirty="0"/>
          </a:p>
        </p:txBody>
      </p:sp>
      <p:sp>
        <p:nvSpPr>
          <p:cNvPr id="8" name="Rounded Rectangle 7"/>
          <p:cNvSpPr/>
          <p:nvPr/>
        </p:nvSpPr>
        <p:spPr>
          <a:xfrm>
            <a:off x="1028700" y="2514600"/>
            <a:ext cx="16230600" cy="352044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03020" y="2633472"/>
            <a:ext cx="15681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6FD3FF"/>
                </a:solidFill>
                <a:latin typeface="Times New Roman"/>
              </a:rPr>
              <a:t>Adaptive analysis: cheap screening decides where expensive checks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03020" y="324612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C9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Ingest budget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C9D1EC"/>
                </a:solidFill>
                <a:latin typeface="Times New Roman"/>
              </a:rPr>
              <a:t>cap length · make a proxy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24612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C9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Screening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C9D1EC"/>
                </a:solidFill>
                <a:latin typeface="Times New Roman"/>
              </a:rPr>
              <a:t>low-res suspicion curve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0980" y="324612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38100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Scheduler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C9D1EC"/>
                </a:solidFill>
                <a:latin typeface="Times New Roman"/>
              </a:rPr>
              <a:t>top-K intervals · pad · merge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60" y="324612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C9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Deep checks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C9D1EC"/>
                </a:solidFill>
                <a:latin typeface="Times New Roman"/>
              </a:rPr>
              <a:t>full resolution · flagged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378940" y="324612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C9D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Live timeline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C9D1EC"/>
                </a:solidFill>
                <a:latin typeface="Times New Roman"/>
              </a:rPr>
              <a:t>curve first · deep fills 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91356" y="3794760"/>
            <a:ext cx="544068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0336" y="3794760"/>
            <a:ext cx="544068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29316" y="3794760"/>
            <a:ext cx="544068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98296" y="3794760"/>
            <a:ext cx="544068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704820" y="4361688"/>
            <a:ext cx="0" cy="347472"/>
          </a:xfrm>
          <a:prstGeom prst="line">
            <a:avLst/>
          </a:prstGeom>
          <a:ln w="28575">
            <a:solidFill>
              <a:srgbClr val="C9D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166860" y="4709160"/>
            <a:ext cx="6537960" cy="0"/>
          </a:xfrm>
          <a:prstGeom prst="line">
            <a:avLst/>
          </a:prstGeom>
          <a:ln w="28575">
            <a:solidFill>
              <a:srgbClr val="C9D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166860" y="4379976"/>
            <a:ext cx="0" cy="329184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41180" y="4764024"/>
            <a:ext cx="5989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1">
                <a:solidFill>
                  <a:srgbClr val="C9D1EC"/>
                </a:solidFill>
                <a:latin typeface="Times New Roman"/>
              </a:rPr>
              <a:t>investigator clicks “Analyze deeper here”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03020" y="5166360"/>
            <a:ext cx="7406640" cy="68580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1905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700" b="1">
                <a:solidFill>
                  <a:srgbClr val="6EE7B7"/>
                </a:solidFill>
                <a:latin typeface="Times New Roman"/>
              </a:rPr>
              <a:t>Always on the whole file: </a:t>
            </a:r>
            <a:r>
              <a:rPr sz="1700" b="0">
                <a:solidFill>
                  <a:srgbClr val="F4F7FF"/>
                </a:solidFill>
                <a:latin typeface="Times New Roman"/>
              </a:rPr>
              <a:t>SHA-256, Merkle tree, metadata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28900" y="4379976"/>
            <a:ext cx="0" cy="749808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28700" y="6263640"/>
            <a:ext cx="5257800" cy="352044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03020" y="6382512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6FD3FF"/>
                </a:solidFill>
                <a:latin typeface="Times New Roman"/>
              </a:rPr>
              <a:t>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3020" y="6995160"/>
            <a:ext cx="4754880" cy="1769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1" dirty="0">
                <a:solidFill>
                  <a:srgbClr val="6FD3FF"/>
                </a:solidFill>
                <a:latin typeface="Times New Roman"/>
              </a:rPr>
              <a:t>Media: </a:t>
            </a:r>
            <a:r>
              <a:rPr sz="1900" b="0" dirty="0" err="1">
                <a:solidFill>
                  <a:srgbClr val="F4F7FF"/>
                </a:solidFill>
                <a:latin typeface="Times New Roman"/>
              </a:rPr>
              <a:t>ffmpeg</a:t>
            </a:r>
            <a:r>
              <a:rPr sz="1900" b="0" dirty="0">
                <a:solidFill>
                  <a:srgbClr val="F4F7FF"/>
                </a:solidFill>
                <a:latin typeface="Times New Roman"/>
              </a:rPr>
              <a:t>, </a:t>
            </a:r>
            <a:r>
              <a:rPr sz="1900" b="0" dirty="0" err="1">
                <a:solidFill>
                  <a:srgbClr val="F4F7FF"/>
                </a:solidFill>
                <a:latin typeface="Times New Roman"/>
              </a:rPr>
              <a:t>ffprobe</a:t>
            </a:r>
            <a:r>
              <a:rPr sz="1900" b="0" dirty="0">
                <a:solidFill>
                  <a:srgbClr val="F4F7FF"/>
                </a:solidFill>
                <a:latin typeface="Times New Roman"/>
              </a:rPr>
              <a:t>, </a:t>
            </a:r>
            <a:r>
              <a:rPr sz="1900" b="0" dirty="0" err="1">
                <a:solidFill>
                  <a:srgbClr val="F4F7FF"/>
                </a:solidFill>
                <a:latin typeface="Times New Roman"/>
              </a:rPr>
              <a:t>exiftool</a:t>
            </a:r>
            <a:r>
              <a:rPr sz="1900" b="0" dirty="0">
                <a:solidFill>
                  <a:srgbClr val="F4F7FF"/>
                </a:solidFill>
                <a:latin typeface="Times New Roman"/>
              </a:rPr>
              <a:t>, c2patool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1" dirty="0">
                <a:solidFill>
                  <a:srgbClr val="6FD3FF"/>
                </a:solidFill>
                <a:latin typeface="Times New Roman"/>
              </a:rPr>
              <a:t>Vision: </a:t>
            </a:r>
            <a:r>
              <a:rPr sz="1900" b="0" dirty="0">
                <a:solidFill>
                  <a:srgbClr val="F4F7FF"/>
                </a:solidFill>
                <a:latin typeface="Times New Roman"/>
              </a:rPr>
              <a:t>OpenCV, </a:t>
            </a:r>
            <a:r>
              <a:rPr sz="1900" b="0" dirty="0" err="1">
                <a:solidFill>
                  <a:srgbClr val="F4F7FF"/>
                </a:solidFill>
                <a:latin typeface="Times New Roman"/>
              </a:rPr>
              <a:t>MediaPipe</a:t>
            </a:r>
            <a:r>
              <a:rPr sz="1900" b="0" dirty="0">
                <a:solidFill>
                  <a:srgbClr val="F4F7FF"/>
                </a:solidFill>
                <a:latin typeface="Times New Roman"/>
              </a:rPr>
              <a:t> Face Mesh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1" dirty="0">
                <a:solidFill>
                  <a:srgbClr val="6FD3FF"/>
                </a:solidFill>
                <a:latin typeface="Times New Roman"/>
              </a:rPr>
              <a:t>Audio: </a:t>
            </a:r>
            <a:r>
              <a:rPr sz="1900" b="0" dirty="0">
                <a:solidFill>
                  <a:srgbClr val="F4F7FF"/>
                </a:solidFill>
                <a:latin typeface="Times New Roman"/>
              </a:rPr>
              <a:t>spectrograms, AASIST (optional)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1" dirty="0">
                <a:solidFill>
                  <a:srgbClr val="6FD3FF"/>
                </a:solidFill>
                <a:latin typeface="Times New Roman"/>
              </a:rPr>
              <a:t>Provenance: </a:t>
            </a:r>
            <a:r>
              <a:rPr sz="1900" b="0" dirty="0">
                <a:solidFill>
                  <a:srgbClr val="F4F7FF"/>
                </a:solidFill>
                <a:latin typeface="Times New Roman"/>
              </a:rPr>
              <a:t>SHA-256, Ed25519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1" dirty="0">
                <a:solidFill>
                  <a:srgbClr val="6FD3FF"/>
                </a:solidFill>
                <a:latin typeface="Times New Roman"/>
              </a:rPr>
              <a:t>Delivery: </a:t>
            </a:r>
            <a:r>
              <a:rPr sz="1900" b="0" dirty="0">
                <a:solidFill>
                  <a:srgbClr val="F4F7FF"/>
                </a:solidFill>
                <a:latin typeface="Times New Roman"/>
              </a:rPr>
              <a:t>web investigator workspace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5100" y="6263640"/>
            <a:ext cx="5257800" cy="352044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89420" y="6382512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B9A3FF"/>
                </a:solidFill>
                <a:latin typeface="Times New Roman"/>
              </a:rPr>
              <a:t>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9420" y="6995160"/>
            <a:ext cx="4754880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Every check emits the same finding schema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Only fusion weighs evidence: supports vs contradicts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Per-check reliability weights and an explicit abstain state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Merkle tree shows exactly which segment changed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LLM wording only from structured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01500" y="6263640"/>
            <a:ext cx="5257800" cy="352044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275820" y="6382512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6EE7B7"/>
                </a:solidFill>
                <a:latin typeface="Times New Roman"/>
              </a:rPr>
              <a:t>Innovation / USP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75820" y="6995160"/>
            <a:ext cx="4754880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An evidence graph, not “Fake, 92%”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No external classifier as decision-maker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Honest “inconclusive” with coverage and limits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Counterfactual toggle and attack mode prove the reasoning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Signed, hash-chained chain of custody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515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550" y="152400"/>
            <a:ext cx="1170939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38200" y="1345899"/>
            <a:ext cx="15076170" cy="1031240"/>
          </a:xfrm>
          <a:prstGeom prst="rect">
            <a:avLst/>
          </a:prstGeom>
        </p:spPr>
        <p:txBody>
          <a:bodyPr wrap="none" lIns="0" tIns="0" rIns="0" bIns="0" rtlCol="0" anchor="ctr" anchorCtr="0"/>
          <a:lstStyle/>
          <a:p>
            <a:pPr marL="0" marR="0" indent="0" algn="l" hangingPunct="0">
              <a:lnSpc>
                <a:spcPts val="339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350" spc="4" baseline="0" dirty="0">
                <a:solidFill>
                  <a:srgbClr val="FFFFFF"/>
                </a:solidFill>
                <a:latin typeface="Times New Roman"/>
              </a:rPr>
              <a:t>   System Architecture 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1C1109-4BF0-5C75-B6F7-F1FCC89058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831" y="2095500"/>
            <a:ext cx="1607820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515"/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550" y="152400"/>
            <a:ext cx="1170939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28700" y="1828800"/>
            <a:ext cx="4316730" cy="431800"/>
          </a:xfrm>
          <a:prstGeom prst="rect">
            <a:avLst/>
          </a:prstGeom>
        </p:spPr>
        <p:txBody>
          <a:bodyPr wrap="none" lIns="0" tIns="0" rIns="0" bIns="0" rtlCol="0" anchor="ctr" anchorCtr="0"/>
          <a:lstStyle/>
          <a:p>
            <a:pPr marL="0" marR="0" indent="0" algn="l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3350" spc="21" baseline="0" dirty="0">
                <a:solidFill>
                  <a:srgbClr val="FFFFFF"/>
                </a:solidFill>
                <a:latin typeface="Times New Roman"/>
              </a:rPr>
              <a:t>Impact &amp; Future Scope</a:t>
            </a:r>
            <a:endParaRPr lang="en-US" sz="1100" dirty="0"/>
          </a:p>
        </p:txBody>
      </p:sp>
      <p:sp>
        <p:nvSpPr>
          <p:cNvPr id="8" name="Rounded Rectangle 7"/>
          <p:cNvSpPr/>
          <p:nvPr/>
        </p:nvSpPr>
        <p:spPr>
          <a:xfrm>
            <a:off x="1028700" y="2514600"/>
            <a:ext cx="7315200" cy="726948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03020" y="2633472"/>
            <a:ext cx="6766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B9A3FF"/>
                </a:solidFill>
                <a:latin typeface="Times New Roman"/>
              </a:rPr>
              <a:t>Convergence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857500" y="4160520"/>
            <a:ext cx="1828800" cy="2400300"/>
          </a:xfrm>
          <a:prstGeom prst="line">
            <a:avLst/>
          </a:prstGeom>
          <a:ln w="28575">
            <a:solidFill>
              <a:srgbClr val="C9D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686300" y="4160520"/>
            <a:ext cx="1828800" cy="2400300"/>
          </a:xfrm>
          <a:prstGeom prst="line">
            <a:avLst/>
          </a:prstGeom>
          <a:ln w="28575">
            <a:solidFill>
              <a:srgbClr val="C9D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857500" y="6560820"/>
            <a:ext cx="1828800" cy="2171700"/>
          </a:xfrm>
          <a:prstGeom prst="line">
            <a:avLst/>
          </a:prstGeom>
          <a:ln w="28575">
            <a:solidFill>
              <a:srgbClr val="C9D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86300" y="6560820"/>
            <a:ext cx="1828800" cy="2171700"/>
          </a:xfrm>
          <a:prstGeom prst="line">
            <a:avLst/>
          </a:prstGeom>
          <a:ln w="28575">
            <a:solidFill>
              <a:srgbClr val="C9D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48940" y="5600700"/>
            <a:ext cx="3474720" cy="1920240"/>
          </a:xfrm>
          <a:prstGeom prst="ellipse">
            <a:avLst/>
          </a:prstGeom>
          <a:solidFill>
            <a:srgbClr val="1B2B6B">
              <a:alpha val="95000"/>
            </a:srgbClr>
          </a:solidFill>
          <a:ln w="25400">
            <a:solidFill>
              <a:srgbClr val="F4F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00" b="1">
                <a:solidFill>
                  <a:srgbClr val="F4F7FF"/>
                </a:solidFill>
                <a:latin typeface="Times New Roman"/>
              </a:rPr>
              <a:t>CodeAstra 2.0</a:t>
            </a:r>
          </a:p>
          <a:p>
            <a:pPr algn="ctr"/>
            <a:r>
              <a:rPr sz="1700" b="0">
                <a:solidFill>
                  <a:srgbClr val="C9D1EC"/>
                </a:solidFill>
                <a:latin typeface="Times New Roman"/>
              </a:rPr>
              <a:t>Media Forensics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57300" y="3337560"/>
            <a:ext cx="3200400" cy="164592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22225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Cybersecurity + Blockchain</a:t>
            </a:r>
          </a:p>
          <a:p>
            <a:pPr algn="ctr">
              <a:spcBef>
                <a:spcPts val="200"/>
              </a:spcBef>
            </a:pPr>
            <a:r>
              <a:rPr sz="1700" b="0">
                <a:solidFill>
                  <a:srgbClr val="C9D1EC"/>
                </a:solidFill>
                <a:latin typeface="Times New Roman"/>
              </a:rPr>
              <a:t>Anchor media hash and provenance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14900" y="3337560"/>
            <a:ext cx="3200400" cy="164592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22225">
            <a:solidFill>
              <a:srgbClr val="FFC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Threat intelligence</a:t>
            </a:r>
          </a:p>
          <a:p>
            <a:pPr algn="ctr">
              <a:spcBef>
                <a:spcPts val="200"/>
              </a:spcBef>
            </a:pPr>
            <a:r>
              <a:rPr sz="1700" b="0">
                <a:solidFill>
                  <a:srgbClr val="C9D1EC"/>
                </a:solidFill>
                <a:latin typeface="Times New Roman"/>
              </a:rPr>
              <a:t>Known hashes, previous versions (optional)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57300" y="7909560"/>
            <a:ext cx="3200400" cy="164592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222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IoT capture identity</a:t>
            </a:r>
          </a:p>
          <a:p>
            <a:pPr algn="ctr">
              <a:spcBef>
                <a:spcPts val="200"/>
              </a:spcBef>
            </a:pPr>
            <a:r>
              <a:rPr sz="1700" b="0">
                <a:solidFill>
                  <a:srgbClr val="C9D1EC"/>
                </a:solidFill>
                <a:latin typeface="Times New Roman"/>
              </a:rPr>
              <a:t>Trusted device signs the hash at capture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14900" y="7909560"/>
            <a:ext cx="3200400" cy="164592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22225">
            <a:solidFill>
              <a:srgbClr val="FF9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900" b="1">
                <a:solidFill>
                  <a:srgbClr val="F4F7FF"/>
                </a:solidFill>
                <a:latin typeface="Times New Roman"/>
              </a:rPr>
              <a:t>Web application</a:t>
            </a:r>
          </a:p>
          <a:p>
            <a:pPr algn="ctr">
              <a:spcBef>
                <a:spcPts val="200"/>
              </a:spcBef>
            </a:pPr>
            <a:r>
              <a:rPr sz="1700" b="0">
                <a:solidFill>
                  <a:srgbClr val="C9D1EC"/>
                </a:solidFill>
                <a:latin typeface="Times New Roman"/>
              </a:rPr>
              <a:t>Investigator workspace and report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500" y="2514600"/>
            <a:ext cx="8686800" cy="324612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46820" y="263347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6FD3FF"/>
                </a:solidFill>
                <a:latin typeface="Times New Roman"/>
              </a:rPr>
              <a:t>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6820" y="3246120"/>
            <a:ext cx="818388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500"/>
              </a:spcAft>
              <a:buFont typeface="Arial"/>
              <a:buChar char="•"/>
            </a:pPr>
            <a:r>
              <a:rPr sz="1900" b="1">
                <a:solidFill>
                  <a:srgbClr val="6FD3FF"/>
                </a:solidFill>
                <a:latin typeface="Times New Roman"/>
              </a:rPr>
              <a:t>Users: </a:t>
            </a:r>
            <a:r>
              <a:rPr sz="1900" b="0">
                <a:solidFill>
                  <a:srgbClr val="F4F7FF"/>
                </a:solidFill>
                <a:latin typeface="Times New Roman"/>
              </a:rPr>
              <a:t>digital forensic investigators, fraud and security teams, newsrooms</a:t>
            </a:r>
          </a:p>
          <a:p>
            <a:pPr marL="256032" indent="-256032" algn="l">
              <a:spcAft>
                <a:spcPts val="5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Turns “Fake, 92%” into evidence an investigator can inspect and challenge</a:t>
            </a:r>
          </a:p>
          <a:p>
            <a:pPr marL="256032" indent="-256032" algn="l">
              <a:spcAft>
                <a:spcPts val="5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Catches partial manipulation: cloned voice, replaced region, edited metadata</a:t>
            </a:r>
          </a:p>
          <a:p>
            <a:pPr marL="256032" indent="-256032" algn="l">
              <a:spcAft>
                <a:spcPts val="5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Tamper-evident chain of custody builds trust in the report</a:t>
            </a:r>
          </a:p>
          <a:p>
            <a:pPr marL="256032" indent="-256032" algn="l">
              <a:spcAft>
                <a:spcPts val="500"/>
              </a:spcAft>
              <a:buFont typeface="Arial"/>
              <a:buChar char="•"/>
            </a:pPr>
            <a:r>
              <a:rPr sz="1900" b="0">
                <a:solidFill>
                  <a:srgbClr val="F4F7FF"/>
                </a:solidFill>
                <a:latin typeface="Times New Roman"/>
              </a:rPr>
              <a:t>Practical on longer, high-resolution files through adaptive screening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500" y="5989320"/>
            <a:ext cx="8686800" cy="3794760"/>
          </a:xfrm>
          <a:prstGeom prst="roundRect">
            <a:avLst>
              <a:gd name="adj" fmla="val 4000"/>
            </a:avLst>
          </a:prstGeom>
          <a:solidFill>
            <a:srgbClr val="0A1230">
              <a:alpha val="72000"/>
            </a:srgbClr>
          </a:solidFill>
          <a:ln w="15875">
            <a:solidFill>
              <a:srgbClr val="FFC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46820" y="6108192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CB6B"/>
                </a:solidFill>
                <a:latin typeface="Times New Roman"/>
              </a:rPr>
              <a:t>Future 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46820" y="6720840"/>
            <a:ext cx="2377440" cy="283464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222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6EE7B7"/>
                </a:solidFill>
                <a:latin typeface="Times New Roman"/>
              </a:rPr>
              <a:t>Near term</a:t>
            </a:r>
          </a:p>
          <a:p>
            <a:pPr marL="256032" indent="-256032" algn="l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F4F7FF"/>
                </a:solidFill>
                <a:latin typeface="Times New Roman"/>
              </a:rPr>
              <a:t>Attack mode: re-compress, resize, add noise</a:t>
            </a:r>
          </a:p>
          <a:p>
            <a:pPr marL="256032" indent="-256032" algn="l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F4F7FF"/>
                </a:solidFill>
                <a:latin typeface="Times New Roman"/>
              </a:rPr>
              <a:t>Results table on the test set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269980" y="8138160"/>
            <a:ext cx="411480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727180" y="6720840"/>
            <a:ext cx="2377440" cy="283464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22225">
            <a:solidFill>
              <a:srgbClr val="6FD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6FD3FF"/>
                </a:solidFill>
                <a:latin typeface="Times New Roman"/>
              </a:rPr>
              <a:t>Mid term</a:t>
            </a:r>
          </a:p>
          <a:p>
            <a:pPr marL="256032" indent="-256032" algn="l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F4F7FF"/>
                </a:solidFill>
                <a:latin typeface="Times New Roman"/>
              </a:rPr>
              <a:t>Capture-device signing (phone or ESP32)</a:t>
            </a:r>
          </a:p>
          <a:p>
            <a:pPr marL="256032" indent="-256032" algn="l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F4F7FF"/>
                </a:solidFill>
                <a:latin typeface="Times New Roman"/>
              </a:rPr>
              <a:t>Blockchain anchoring on a testnet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150340" y="8138160"/>
            <a:ext cx="411480" cy="0"/>
          </a:xfrm>
          <a:prstGeom prst="line">
            <a:avLst/>
          </a:prstGeom>
          <a:ln w="28575">
            <a:solidFill>
              <a:srgbClr val="C9D1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4607540" y="6720840"/>
            <a:ext cx="2377440" cy="2834640"/>
          </a:xfrm>
          <a:prstGeom prst="roundRect">
            <a:avLst>
              <a:gd name="adj" fmla="val 10000"/>
            </a:avLst>
          </a:prstGeom>
          <a:solidFill>
            <a:srgbClr val="121C45">
              <a:alpha val="90000"/>
            </a:srgbClr>
          </a:solidFill>
          <a:ln w="22225">
            <a:solidFill>
              <a:srgbClr val="B9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B9A3FF"/>
                </a:solidFill>
                <a:latin typeface="Times New Roman"/>
              </a:rPr>
              <a:t>Extended</a:t>
            </a:r>
          </a:p>
          <a:p>
            <a:pPr marL="256032" indent="-256032" algn="l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F4F7FF"/>
                </a:solidFill>
                <a:latin typeface="Times New Roman"/>
              </a:rPr>
              <a:t>Speaker-embedding consistency check</a:t>
            </a:r>
          </a:p>
          <a:p>
            <a:pPr marL="256032" indent="-256032" algn="l">
              <a:spcAft>
                <a:spcPts val="400"/>
              </a:spcAft>
              <a:buFont typeface="Arial"/>
              <a:buChar char="•"/>
            </a:pPr>
            <a:r>
              <a:rPr sz="1700" b="0">
                <a:solidFill>
                  <a:srgbClr val="F4F7FF"/>
                </a:solidFill>
                <a:latin typeface="Times New Roman"/>
              </a:rPr>
              <a:t>Multi-copy lineage view</a:t>
            </a:r>
          </a:p>
        </p:txBody>
      </p:sp>
      <p:pic>
        <p:nvPicPr>
          <p:cNvPr id="32" name="Picture 31" descr="The image depicts a diagram from the Rajiv Gandhi Institute of Technology, Mumbai, outlining a future scope for MCT (Manjara Chanitrale Trust) in utilizing AI for real-time detection of advanced multimodal analysis to identify and flag synthetic or manipulated media, improving detection accuracy, and practical deployment for broader applications.&#10;&#10;AI-generated content may be incorrect.">
            <a:extLst>
              <a:ext uri="{FF2B5EF4-FFF2-40B4-BE49-F238E27FC236}">
                <a16:creationId xmlns:a16="http://schemas.microsoft.com/office/drawing/2014/main" id="{BE48E4BB-A646-BE3A-86FF-032DD37DF9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11628"/>
            <a:ext cx="18364200" cy="102986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690</Words>
  <Application>Microsoft Office PowerPoint</Application>
  <PresentationFormat>Custom</PresentationFormat>
  <Paragraphs>127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Vedant Joshi</cp:lastModifiedBy>
  <cp:revision>6</cp:revision>
  <dcterms:created xsi:type="dcterms:W3CDTF">2006-08-16T00:00:00Z</dcterms:created>
  <dcterms:modified xsi:type="dcterms:W3CDTF">2026-10-13T04:41:48Z</dcterms:modified>
</cp:coreProperties>
</file>